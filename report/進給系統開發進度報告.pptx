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embeddedFontLst>
    <p:embeddedFont>
      <p:font typeface="微軟正黑體" panose="020B0604030504040204" pitchFamily="34" charset="-12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089728"/>
            <a:ext cx="8572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 SemiBold"/>
                <a:sym typeface="Inter SemiBold"/>
              </a:rPr>
              <a:t>PROGRESS REPORT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647825"/>
            <a:ext cx="933372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進給系統選用 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</a:br>
            <a:r>
              <a:rPr lang="en-US" sz="7200" b="1" i="0" u="none" strike="noStrike" cap="none" dirty="0">
                <a:solidFill>
                  <a:srgbClr val="38BDF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LLM 顧問系統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1999" y="3933825"/>
            <a:ext cx="10472057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基</a:t>
            </a:r>
            <a:r>
              <a:rPr lang="en-US" sz="3600" b="0" i="0" u="none" strike="noStrike" cap="none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於 RAG 技術與螺桿型錄之專業問答實作進度說明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61999" y="4932014"/>
            <a:ext cx="10322767" cy="45719"/>
          </a:xfrm>
          <a:prstGeom prst="rect">
            <a:avLst/>
          </a:prstGeom>
          <a:solidFill>
            <a:srgbClr val="005C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6052C5-FA80-EAFA-923A-5A2E1961AE6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9759820" y="6285479"/>
            <a:ext cx="2133600" cy="365125"/>
          </a:xfrm>
        </p:spPr>
        <p:txBody>
          <a:bodyPr/>
          <a:lstStyle/>
          <a:p>
            <a:fld id="{011D0797-9170-4694-A601-26915C14464C}" type="datetime1">
              <a:rPr lang="zh-TW" altLang="en-US" sz="240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2026/2/26</a:t>
            </a:fld>
            <a:endParaRPr lang="zh-TW" altLang="en-US" dirty="0">
              <a:solidFill>
                <a:schemeClr val="bg2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90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3;p15" descr="image.png">
            <a:extLst>
              <a:ext uri="{FF2B5EF4-FFF2-40B4-BE49-F238E27FC236}">
                <a16:creationId xmlns:a16="http://schemas.microsoft.com/office/drawing/2014/main" id="{83E5E73E-5B73-ED1E-9668-E80F80227D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9452" y="2084435"/>
            <a:ext cx="2577702" cy="33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3;p15" descr="image.png">
            <a:extLst>
              <a:ext uri="{FF2B5EF4-FFF2-40B4-BE49-F238E27FC236}">
                <a16:creationId xmlns:a16="http://schemas.microsoft.com/office/drawing/2014/main" id="{5467F4D0-97FA-FF41-9156-301743C716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4594" y="2084435"/>
            <a:ext cx="2577702" cy="33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3;p15" descr="image.png">
            <a:extLst>
              <a:ext uri="{FF2B5EF4-FFF2-40B4-BE49-F238E27FC236}">
                <a16:creationId xmlns:a16="http://schemas.microsoft.com/office/drawing/2014/main" id="{F0411C29-E7EA-97B3-4C44-21B03CD0FA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6392" y="2034660"/>
            <a:ext cx="2577702" cy="335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846" y="2034660"/>
            <a:ext cx="2684856" cy="33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684666"/>
            <a:ext cx="11201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四階段開發核心步驟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898921" y="3398490"/>
            <a:ext cx="2250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資料蒐集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3944392"/>
            <a:ext cx="237529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整合上銀 (HIWIN) 及銀泰 (PMI) 之螺桿型錄，建立基礎 PDF 圖像資</a:t>
            </a:r>
            <a:r>
              <a:rPr lang="zh-TW" alt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料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庫。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652240" y="3406021"/>
            <a:ext cx="2250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資料前處理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652240" y="3944392"/>
            <a:ext cx="21431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將 PDF 中的文字、表格與照片進行分離擷取，並執行數據清洗。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38304" y="3398489"/>
            <a:ext cx="2250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RAG 製作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438304" y="3944392"/>
            <a:ext cx="2291953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架設向量數據庫並進行 Embedding 工程，供模型高效檢索。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038142" y="3395427"/>
            <a:ext cx="22502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LLM 串接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60658" y="3944392"/>
            <a:ext cx="236934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對接大型語言模型，針對特定區域知識提供精準且具備證據的專業回答。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5179" y="2697418"/>
            <a:ext cx="498917" cy="432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2576" y="2632614"/>
            <a:ext cx="541735" cy="56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2752" y="2632614"/>
            <a:ext cx="651102" cy="56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ata processing icon 張「53萬」免版稅圖片、庫存照片和影像 ...">
            <a:extLst>
              <a:ext uri="{FF2B5EF4-FFF2-40B4-BE49-F238E27FC236}">
                <a16:creationId xmlns:a16="http://schemas.microsoft.com/office/drawing/2014/main" id="{A1999B00-2DF7-B7AB-000C-C20E87C3C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20385" y1="23571" x2="31154" y2="23214"/>
                        <a14:foregroundMark x1="18077" y1="48929" x2="20385" y2="48571"/>
                        <a14:foregroundMark x1="25000" y1="53214" x2="25000" y2="53214"/>
                        <a14:foregroundMark x1="25000" y1="57143" x2="25000" y2="57143"/>
                        <a14:foregroundMark x1="28077" y1="61429" x2="28077" y2="61429"/>
                        <a14:foregroundMark x1="29615" y1="64643" x2="29615" y2="64643"/>
                        <a14:foregroundMark x1="30000" y1="68929" x2="30000" y2="68929"/>
                        <a14:foregroundMark x1="43077" y1="61786" x2="43077" y2="61786"/>
                        <a14:foregroundMark x1="43846" y1="66786" x2="43846" y2="66786"/>
                        <a14:foregroundMark x1="50769" y1="65714" x2="50769" y2="65714"/>
                        <a14:foregroundMark x1="56923" y1="65714" x2="56923" y2="65714"/>
                        <a14:foregroundMark x1="56923" y1="73929" x2="56923" y2="73929"/>
                        <a14:foregroundMark x1="51154" y1="75714" x2="51154" y2="75714"/>
                        <a14:foregroundMark x1="44615" y1="74286" x2="44615" y2="74286"/>
                        <a14:foregroundMark x1="66154" y1="48929" x2="66154" y2="48929"/>
                        <a14:foregroundMark x1="79615" y1="33571" x2="79615" y2="33571"/>
                        <a14:foregroundMark x1="76538" y1="53929" x2="76538" y2="53929"/>
                        <a14:foregroundMark x1="76538" y1="57143" x2="76538" y2="57143"/>
                        <a14:foregroundMark x1="75769" y1="60714" x2="75769" y2="60714"/>
                        <a14:foregroundMark x1="73846" y1="64643" x2="73846" y2="64643"/>
                        <a14:foregroundMark x1="75385" y1="68214" x2="75385" y2="68214"/>
                        <a14:backgroundMark x1="35000" y1="52143" x2="35000" y2="52143"/>
                        <a14:backgroundMark x1="65385" y1="52500" x2="65385" y2="5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180" y="2242517"/>
            <a:ext cx="973335" cy="104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762000" y="1562100"/>
            <a:ext cx="476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7653" y="291680"/>
            <a:ext cx="4335111" cy="5853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755AC179-604A-9D16-1CEB-E1A33983398B}"/>
              </a:ext>
            </a:extLst>
          </p:cNvPr>
          <p:cNvGrpSpPr/>
          <p:nvPr/>
        </p:nvGrpSpPr>
        <p:grpSpPr>
          <a:xfrm>
            <a:off x="287110" y="1122844"/>
            <a:ext cx="5187626" cy="5132309"/>
            <a:chOff x="547687" y="995346"/>
            <a:chExt cx="5187626" cy="5132309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1C25A08E-888D-B97B-2D52-97D0BDBA2028}"/>
                </a:ext>
              </a:extLst>
            </p:cNvPr>
            <p:cNvGrpSpPr/>
            <p:nvPr/>
          </p:nvGrpSpPr>
          <p:grpSpPr>
            <a:xfrm>
              <a:off x="547687" y="995346"/>
              <a:ext cx="5187626" cy="1946353"/>
              <a:chOff x="547687" y="995346"/>
              <a:chExt cx="5187626" cy="1946353"/>
            </a:xfrm>
          </p:grpSpPr>
          <p:sp>
            <p:nvSpPr>
              <p:cNvPr id="138" name="Google Shape;138;p17"/>
              <p:cNvSpPr txBox="1"/>
              <p:nvPr/>
            </p:nvSpPr>
            <p:spPr>
              <a:xfrm>
                <a:off x="551186" y="995346"/>
                <a:ext cx="5184127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1" i="0" u="none" strike="noStrike" cap="none" dirty="0">
                    <a:solidFill>
                      <a:srgbClr val="005CA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nter"/>
                    <a:sym typeface="Inter"/>
                  </a:rPr>
                  <a:t>精準數據清洗與擷取邏輯</a:t>
                </a:r>
                <a:endParaRPr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547687" y="1629968"/>
                <a:ext cx="500062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i="0" u="none" strike="noStrike" cap="none" dirty="0">
                    <a:solidFill>
                      <a:srgbClr val="1E293B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nter"/>
                    <a:sym typeface="Inter"/>
                  </a:rPr>
                  <a:t>確保知識庫內容純淨度</a:t>
                </a:r>
                <a:endParaRPr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2" name="Google Shape;142;p17"/>
              <p:cNvSpPr txBox="1"/>
              <p:nvPr/>
            </p:nvSpPr>
            <p:spPr>
              <a:xfrm>
                <a:off x="666750" y="2449256"/>
                <a:ext cx="476250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rgbClr val="334155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nter"/>
                    <a:sym typeface="Inter"/>
                  </a:rPr>
                  <a:t>針對型錄設計的自動化清洗流程：</a:t>
                </a:r>
                <a:endParaRPr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44" name="Google Shape;144;p17"/>
            <p:cNvSpPr txBox="1"/>
            <p:nvPr/>
          </p:nvSpPr>
          <p:spPr>
            <a:xfrm>
              <a:off x="551186" y="3173000"/>
              <a:ext cx="5184126" cy="2954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0" bIns="0" anchor="t" anchorCtr="0">
              <a:spAutoFit/>
            </a:bodyPr>
            <a:lstStyle/>
            <a:p>
              <a:pPr marL="342900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TW" sz="2000" b="1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雜訊去除：</a:t>
              </a:r>
              <a:r>
                <a:rPr lang="en-US" altLang="zh-TW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自動去除型錄目錄頁、</a:t>
              </a:r>
              <a:r>
                <a:rPr lang="zh-TW" altLang="en-US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編號等</a:t>
              </a:r>
              <a:r>
                <a:rPr lang="en-US" altLang="zh-TW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的無效數據編號與頁眉廣告資訊。</a:t>
              </a:r>
              <a:endParaRPr lang="en-US" altLang="zh-TW" sz="20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endParaRPr>
            </a:p>
            <a:p>
              <a:pPr marL="342900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TW" altLang="en-US" sz="2000" b="1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核心提取：</a:t>
              </a:r>
              <a:r>
                <a:rPr lang="zh-TW" altLang="en-US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完整擷取各頁核心文字內容，同時保留對應的原始頁碼以便溯源。</a:t>
              </a:r>
              <a:endParaRPr lang="en-US" altLang="zh-TW" sz="2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endParaRPr>
            </a:p>
            <a:p>
              <a:pPr marL="342900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TW" altLang="en-US" sz="2000" b="1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格式統一：</a:t>
              </a:r>
              <a:r>
                <a:rPr lang="zh-TW" altLang="en-US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將擷取後的散亂文字進行編碼對齊，為後續 </a:t>
              </a:r>
              <a:r>
                <a:rPr lang="en-US" altLang="zh-TW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Embedding </a:t>
              </a:r>
              <a:r>
                <a:rPr lang="zh-TW" altLang="en-US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做準備。</a:t>
              </a:r>
              <a:endParaRPr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2" name="圖片 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0C271A4E-6F35-6428-F1CE-ED4B21E7B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727" y="3639755"/>
            <a:ext cx="5464283" cy="3076866"/>
          </a:xfrm>
          <a:prstGeom prst="rect">
            <a:avLst/>
          </a:prstGeom>
        </p:spPr>
      </p:pic>
      <p:sp>
        <p:nvSpPr>
          <p:cNvPr id="3" name="箭號: 彎曲 2">
            <a:extLst>
              <a:ext uri="{FF2B5EF4-FFF2-40B4-BE49-F238E27FC236}">
                <a16:creationId xmlns:a16="http://schemas.microsoft.com/office/drawing/2014/main" id="{F6D979DF-3BB0-C61B-B257-48F164A95CC2}"/>
              </a:ext>
            </a:extLst>
          </p:cNvPr>
          <p:cNvSpPr/>
          <p:nvPr/>
        </p:nvSpPr>
        <p:spPr>
          <a:xfrm rot="5400000">
            <a:off x="10247148" y="1919312"/>
            <a:ext cx="1688841" cy="147948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201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文檔切片 (Chunking) 優化策略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95777" y="1603500"/>
            <a:ext cx="3599497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1000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3309079"/>
            <a:ext cx="32575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 SemiBold"/>
                <a:sym typeface="Inter SemiBold"/>
              </a:rPr>
              <a:t>Chunk Size (字數限制)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4591050" y="1758553"/>
            <a:ext cx="71808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語義完整性的技術考量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591050" y="2321957"/>
            <a:ext cx="7372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為了避免檢索時資訊斷裂，設定了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200 字的重疊區間 (Overlap)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。目前的作法是先將文字擷取後，根據斷句符號與字數上限進行物理切割，並藉此建置目前的向量數據庫雛型。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FEB671C-6E3C-2417-89E1-58D6DA8541E5}"/>
              </a:ext>
            </a:extLst>
          </p:cNvPr>
          <p:cNvGrpSpPr/>
          <p:nvPr/>
        </p:nvGrpSpPr>
        <p:grpSpPr>
          <a:xfrm>
            <a:off x="6448230" y="3993357"/>
            <a:ext cx="5515170" cy="1343753"/>
            <a:chOff x="3480318" y="5690865"/>
            <a:chExt cx="7875037" cy="624780"/>
          </a:xfrm>
        </p:grpSpPr>
        <p:pic>
          <p:nvPicPr>
            <p:cNvPr id="154" name="Google Shape;154;p18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80318" y="5690865"/>
              <a:ext cx="7875037" cy="624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8"/>
            <p:cNvSpPr txBox="1"/>
            <p:nvPr/>
          </p:nvSpPr>
          <p:spPr>
            <a:xfrm>
              <a:off x="3632718" y="5781656"/>
              <a:ext cx="7722637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實作進度：</a:t>
              </a:r>
              <a:r>
                <a:rPr lang="en-US" sz="18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已成功將上銀型錄內容轉換為 400+ 知識塊並存入 Vector DB。</a:t>
              </a:r>
              <a:endParaRPr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1AC24CF5-41F3-19D2-EA33-3F7C4EDD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31" y="3930215"/>
            <a:ext cx="6145466" cy="2751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762000" y="73875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當前挑戰：表格數據檢索干擾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0D357CB-B473-D18F-8037-FA2FCEE2F569}"/>
              </a:ext>
            </a:extLst>
          </p:cNvPr>
          <p:cNvGrpSpPr/>
          <p:nvPr/>
        </p:nvGrpSpPr>
        <p:grpSpPr>
          <a:xfrm>
            <a:off x="762000" y="2251981"/>
            <a:ext cx="5147787" cy="2965571"/>
            <a:chOff x="762000" y="2910315"/>
            <a:chExt cx="5147787" cy="2965571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2BD1EAC-3624-CD6A-4B23-0C5C7212F68D}"/>
                </a:ext>
              </a:extLst>
            </p:cNvPr>
            <p:cNvGrpSpPr/>
            <p:nvPr/>
          </p:nvGrpSpPr>
          <p:grpSpPr>
            <a:xfrm>
              <a:off x="762000" y="2910315"/>
              <a:ext cx="5147787" cy="2965571"/>
              <a:chOff x="762000" y="2912715"/>
              <a:chExt cx="5147787" cy="2965571"/>
            </a:xfrm>
          </p:grpSpPr>
          <p:pic>
            <p:nvPicPr>
              <p:cNvPr id="167" name="Google Shape;167;p19" descr="image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62000" y="2912715"/>
                <a:ext cx="5143500" cy="296557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102D9C55-8C93-7415-FFF1-C7141CC1AB2E}"/>
                  </a:ext>
                </a:extLst>
              </p:cNvPr>
              <p:cNvGrpSpPr/>
              <p:nvPr/>
            </p:nvGrpSpPr>
            <p:grpSpPr>
              <a:xfrm>
                <a:off x="1152525" y="3360388"/>
                <a:ext cx="4757262" cy="2360297"/>
                <a:chOff x="1152525" y="3360388"/>
                <a:chExt cx="4757262" cy="2360297"/>
              </a:xfrm>
            </p:grpSpPr>
            <p:sp>
              <p:nvSpPr>
                <p:cNvPr id="171" name="Google Shape;171;p19"/>
                <p:cNvSpPr txBox="1"/>
                <p:nvPr/>
              </p:nvSpPr>
              <p:spPr>
                <a:xfrm>
                  <a:off x="1329215" y="3360388"/>
                  <a:ext cx="458057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80975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i="0" u="none" strike="noStrike" cap="none" dirty="0">
                      <a:solidFill>
                        <a:srgbClr val="BE123C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nter"/>
                      <a:sym typeface="Inter"/>
                    </a:rPr>
                    <a:t>目前瓶頸</a:t>
                  </a:r>
                  <a:endParaRPr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72" name="Google Shape;172;p19"/>
                <p:cNvSpPr txBox="1"/>
                <p:nvPr/>
              </p:nvSpPr>
              <p:spPr>
                <a:xfrm>
                  <a:off x="1152525" y="3750915"/>
                  <a:ext cx="4362450" cy="19697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6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0" i="0" u="none" strike="noStrike" cap="none" dirty="0">
                      <a:solidFill>
                        <a:srgbClr val="334155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nter"/>
                      <a:sym typeface="Inter"/>
                    </a:rPr>
                    <a:t>在 RAG 搜索測試時，由於表格轉為純文字後失去結構特徵，模型檢索時時常命中「表格標題」而非具體的「參數數據」，導致回答準確度不足。</a:t>
                  </a:r>
                  <a:endParaRPr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p:grpSp>
        </p:grpSp>
        <p:pic>
          <p:nvPicPr>
            <p:cNvPr id="174" name="Google Shape;174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64098" y="3319501"/>
              <a:ext cx="353378" cy="390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61A7FF2F-6742-A3C5-88D5-872CC53F1C46}"/>
              </a:ext>
            </a:extLst>
          </p:cNvPr>
          <p:cNvGrpSpPr/>
          <p:nvPr/>
        </p:nvGrpSpPr>
        <p:grpSpPr>
          <a:xfrm>
            <a:off x="6472715" y="2251981"/>
            <a:ext cx="5143500" cy="3433368"/>
            <a:chOff x="6118146" y="2065425"/>
            <a:chExt cx="5143500" cy="3433368"/>
          </a:xfrm>
        </p:grpSpPr>
        <p:pic>
          <p:nvPicPr>
            <p:cNvPr id="168" name="Google Shape;168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8146" y="2065425"/>
              <a:ext cx="5143500" cy="2965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9"/>
            <p:cNvSpPr txBox="1"/>
            <p:nvPr/>
          </p:nvSpPr>
          <p:spPr>
            <a:xfrm>
              <a:off x="6636782" y="2481064"/>
              <a:ext cx="45805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9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005CA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實測現象</a:t>
              </a:r>
              <a:endParaRPr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75" name="Google Shape;175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405688" y="2466324"/>
              <a:ext cx="318180" cy="350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 txBox="1"/>
            <p:nvPr/>
          </p:nvSpPr>
          <p:spPr>
            <a:xfrm>
              <a:off x="6226628" y="2938092"/>
              <a:ext cx="5035018" cy="2560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0" bIns="0" anchor="t" anchorCtr="0">
              <a:spAutoFit/>
            </a:bodyPr>
            <a:lstStyle/>
            <a:p>
              <a:pPr marR="0" lvl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搜尋特定直徑規格時，回傳整頁標題清單。</a:t>
              </a:r>
            </a:p>
            <a:p>
              <a:pPr marR="0" lvl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跨欄位的邏輯關聯 </a:t>
              </a:r>
              <a:r>
                <a:rPr lang="en-US" altLang="zh-TW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如型號 </a:t>
              </a:r>
              <a:r>
                <a:rPr lang="en-US" altLang="zh-TW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vs </a:t>
              </a:r>
              <a:r>
                <a: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扭矩</a:t>
              </a:r>
              <a:r>
                <a:rPr lang="en-US" altLang="zh-TW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 </a:t>
              </a:r>
              <a:r>
                <a:rPr lang="zh-TW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在切片後消失。</a:t>
              </a:r>
              <a:endPara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ct val="160000"/>
                </a:lnSpc>
              </a:pPr>
              <a:r>
                <a:rPr lang="zh-TW" altLang="en-US" sz="2000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無法區分頁眉固定資訊與內容主體。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571500"/>
            <a:ext cx="112014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5C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nter"/>
                <a:sym typeface="Inter"/>
              </a:rPr>
              <a:t>後續優化路徑與里程碑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62000" y="13716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A61B702-10A7-E55B-C3F1-7924FAE77678}"/>
              </a:ext>
            </a:extLst>
          </p:cNvPr>
          <p:cNvGrpSpPr/>
          <p:nvPr/>
        </p:nvGrpSpPr>
        <p:grpSpPr>
          <a:xfrm>
            <a:off x="762000" y="2537371"/>
            <a:ext cx="10668000" cy="476250"/>
            <a:chOff x="762000" y="3415754"/>
            <a:chExt cx="10668000" cy="476250"/>
          </a:xfrm>
        </p:grpSpPr>
        <p:sp>
          <p:nvSpPr>
            <p:cNvPr id="189" name="Google Shape;189;p20"/>
            <p:cNvSpPr/>
            <p:nvPr/>
          </p:nvSpPr>
          <p:spPr>
            <a:xfrm>
              <a:off x="762000" y="3653879"/>
              <a:ext cx="10668000" cy="381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1697235" y="3415754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005CAF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470945" y="3415754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005CAF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7244655" y="3415754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005CAF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10018365" y="3415754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005CAF"/>
            </a:solidFill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4F510CC5-FB6C-A9C9-43A2-D914E668B037}"/>
              </a:ext>
            </a:extLst>
          </p:cNvPr>
          <p:cNvGrpSpPr/>
          <p:nvPr/>
        </p:nvGrpSpPr>
        <p:grpSpPr>
          <a:xfrm>
            <a:off x="644657" y="3344467"/>
            <a:ext cx="10785343" cy="2413164"/>
            <a:chOff x="703328" y="4082504"/>
            <a:chExt cx="10785343" cy="1473182"/>
          </a:xfrm>
        </p:grpSpPr>
        <p:sp>
          <p:nvSpPr>
            <p:cNvPr id="194" name="Google Shape;194;p20"/>
            <p:cNvSpPr txBox="1"/>
            <p:nvPr/>
          </p:nvSpPr>
          <p:spPr>
            <a:xfrm>
              <a:off x="703328" y="4082504"/>
              <a:ext cx="2464214" cy="263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1E29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多模態拆分</a:t>
              </a:r>
              <a:endParaRPr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820672" y="4653811"/>
              <a:ext cx="2346870" cy="901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手動分離文字、表格與圖片，建立異構索引庫。</a:t>
              </a:r>
              <a:endParaRPr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3477037" y="4082504"/>
              <a:ext cx="2464214" cy="263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1E29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動態檢索路由</a:t>
              </a:r>
              <a:endParaRPr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3594381" y="4653811"/>
              <a:ext cx="2346870" cy="901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視問題類型自動選擇文字庫或表格庫進行檢索。</a:t>
              </a:r>
              <a:endParaRPr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6250747" y="4082504"/>
              <a:ext cx="2578700" cy="526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1E29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強化 RAG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1E29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(Re-rank)</a:t>
              </a:r>
              <a:endParaRPr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6368091" y="4653811"/>
              <a:ext cx="2346870" cy="901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引入重排序模型，確保回傳數據與問題高度相關。</a:t>
              </a:r>
              <a:endParaRPr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9024457" y="4082504"/>
              <a:ext cx="2464214" cy="263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1E293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系統串接測試</a:t>
              </a:r>
              <a:endParaRPr sz="28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9141801" y="4653811"/>
              <a:ext cx="2346870" cy="901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3415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nter"/>
                  <a:sym typeface="Inter"/>
                </a:rPr>
                <a:t>完成端對端專業問答功能，進入選用測試階段。</a:t>
              </a:r>
              <a:endParaRPr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212</Words>
  <Application>Microsoft Office PowerPoint</Application>
  <PresentationFormat>寬螢幕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Calibri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龍宏泰</dc:creator>
  <cp:lastModifiedBy>龍宏泰</cp:lastModifiedBy>
  <cp:revision>6</cp:revision>
  <dcterms:modified xsi:type="dcterms:W3CDTF">2026-02-26T00:32:43Z</dcterms:modified>
</cp:coreProperties>
</file>